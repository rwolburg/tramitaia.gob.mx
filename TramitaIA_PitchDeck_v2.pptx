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(MDP)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13</c:v>
                </c:pt>
                <c:pt idx="2">
                  <c:v>38</c:v>
                </c:pt>
                <c:pt idx="3">
                  <c:v>78</c:v>
                </c:pt>
                <c:pt idx="4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43-425A-A028-2C7DD78F67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06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0"/>
            <a:ext cx="2560320" cy="6858000"/>
          </a:xfrm>
          <a:prstGeom prst="rect">
            <a:avLst/>
          </a:prstGeom>
          <a:solidFill>
            <a:srgbClr val="152A55"/>
          </a:solidFill>
          <a:ln w="12700">
            <a:solidFill>
              <a:srgbClr val="152A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CIUDADANOS 2026  ·  IMPULSORA DE INNOVACIÓN MÉXICO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TramitaIA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Servicios Ciudadanos Digitales con 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 los ciudadanos con su gobierno mediante Inteligencia Artificial, Seguridad y Omnicanalidad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0972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Innovadoras y Servicios Tecnológicos a la Medida, S.A.S.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RFC: SIS170728M16   ·   Abril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989320"/>
            <a:ext cx="2743200" cy="411480"/>
          </a:xfrm>
          <a:prstGeom prst="rect">
            <a:avLst/>
          </a:prstGeom>
          <a:solidFill>
            <a:srgbClr val="152A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y datos avanzados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5989320"/>
            <a:ext cx="2743200" cy="411480"/>
          </a:xfrm>
          <a:prstGeom prst="rect">
            <a:avLst/>
          </a:prstGeom>
          <a:solidFill>
            <a:srgbClr val="152A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429000" y="5989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Telecomunicaciones y conectividad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5989320"/>
            <a:ext cx="2743200" cy="411480"/>
          </a:xfrm>
          <a:prstGeom prst="rect">
            <a:avLst/>
          </a:prstGeom>
          <a:solidFill>
            <a:srgbClr val="152A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309360" y="5989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 seguridad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371600"/>
            <a:ext cx="914400" cy="91440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834640"/>
            <a:ext cx="914400" cy="91440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4297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trámites gubernamentales en México son ineficientes, opacos y analógicos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532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excesivos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2834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promedio, un ciudadano destina 5.1 horas por trámite federal o local, con múltiples ventanillas y formatos físicos.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057400"/>
            <a:ext cx="5532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6355080" y="205740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Corrupción y fricción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269480" y="2834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14% de los trámites involucra actos de corrupción. Las ventanillas físicas concentran riesgo operativo y reputacional.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532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desconectados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63040" y="5074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municipios operan con sistemas heredados aislados. No hay interoperabilidad entre catastro, tesorería, salud y registro civil.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297680"/>
            <a:ext cx="5532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6355080" y="429768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572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digital local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269480" y="5074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6% de los 2,463 municipios ofrece trámites digitales completos. Los que lo hacen lo resuelven con soluciones ad-hoc, costosas y no escalables.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ENCIG 2023 (INEGI); SECIHTI; elaboración propia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Y URGENCIA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mercado de más de 2,500 gobiernos subnacionales que necesitan digitalizarse ahora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2,463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MUNICIPIOS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México. El 94% sin trámites digitales integrales.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566160" y="2468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5661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FEDERATIVAS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portales heterogéneos sin interoperabilidad.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· GOVTECH LATAM 2030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proyectado, con CAGR estimado de ~18% anual.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21488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235440" y="2468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3544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TIEMPOS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3544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lograda por pares internacionales (Estonia, Brasil, Ucrania).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57800"/>
            <a:ext cx="822960" cy="8229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920240" y="5166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ahora?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920240" y="553212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México y la Agencia de Transformación Digital y Telecomunicaciones abren la ventana regulatoria y presupuestal más grande de la década para modernizar la relación gobierno-ciudadano.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TramitaIA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Gobierno-como-Servicio, omnicanal y con IA generativa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44348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conecta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CIUDADANO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↕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GOBIERNO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 solo punto de entrada — WhatsApp, Web, Voz — el ciudadano consulta normatividad, paga, tramita y recibe documentos oficiales en minutos, no semanas.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174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2075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omnicanal 24/7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404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Telegram, Web y Voz con IA generativa en lenguaje natural.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2852928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217920" y="3035808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1043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2962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(RAG)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90372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exactas sobre reglamentos y normatividad en tiempo real.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3739896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6217920" y="3922776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99135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849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formatos con IA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903720" y="4178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automatizada de solicitudes, permisos y constancias oficiales.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035040" y="4626864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6217920" y="4809744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878324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4736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integrados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037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Predial, agua y derechos liquidados desde el chat o portal ciudadano.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035040" y="5513832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3"/>
          <p:cNvSpPr/>
          <p:nvPr/>
        </p:nvSpPr>
        <p:spPr>
          <a:xfrm>
            <a:off x="6217920" y="569671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576529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5623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digital verificable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903720" y="5952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única, biometría y OTP. CRM ciudadano interoperable.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módulos construidos para operar en producción desde el día uno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534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116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Asistente Ciudadano Omnicanal Inteligente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3408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WhatsApp, Telegram, Portal Web y asistentes de voz. IA generativa con procesamiento asíncrono atiende 24/7 sin saturar líneas telefónicas.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868680" y="299923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0678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926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Búsqueda Semántica Normativa (RAG)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32552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Retrieval-Augmented Generation que extrae respuestas precisas de reglamentos, bandos y bases legales en tiempo real. Citas verificables.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548640" y="374904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868680" y="391363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9822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3840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Automatización y Generación de Formatos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54480" y="41696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analiza la intención del ciudadano, solicita datos faltantes y emite formatos precargados listos para firma. Emisión de PDFs y credenciales verificables.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548640" y="466344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868680" y="482803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89661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4754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Pagos Integrados y Transacciones Transparentes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554480" y="50840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múltiples pasarelas (Stripe, OpenPay, SPEI). Liquidación de predial, agua y derechos desde el chat o portal. Reduce fricción y previene corrupción.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3"/>
          <p:cNvSpPr/>
          <p:nvPr/>
        </p:nvSpPr>
        <p:spPr>
          <a:xfrm>
            <a:off x="548640" y="557784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4"/>
          <p:cNvSpPr/>
          <p:nvPr/>
        </p:nvSpPr>
        <p:spPr>
          <a:xfrm>
            <a:off x="868680" y="5742432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81101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5669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Identidad Digital Verificable y Segura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554480" y="59984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2022 como backbone. Credenciales ciudadanas unificadas, CRM ciudadano y APIs estándar para interoperar con sistemas heredados.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TECNOLÓGICA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modular, asíncrona y cloud-native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1031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Experiencia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Ciudadana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325880"/>
            <a:ext cx="27889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88036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Node.js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325880"/>
            <a:ext cx="27889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30175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64108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Voz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1031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Seguridad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423160"/>
            <a:ext cx="4297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88036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Tunneling (dev)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2423160"/>
            <a:ext cx="4389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269480" y="2423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Mgt.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(Ciudadano / Funcionario)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21031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FastAPI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20574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880360" y="3611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(asyncio)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3611880"/>
            <a:ext cx="21945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Normativa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3611880"/>
            <a:ext cx="2103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315200" y="3611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con 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64040" y="3611880"/>
            <a:ext cx="21488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950976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Pagos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(Stripe / OpenPay)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21031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94360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4800600"/>
            <a:ext cx="4206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880360" y="4800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+ Colas de Tareas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4800600"/>
            <a:ext cx="44805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7178040" y="48006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2022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Transaccionales + Identidad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210312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94360" y="5897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Externos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Gobierno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5897880"/>
            <a:ext cx="3977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880360" y="5897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03720" y="5897880"/>
            <a:ext cx="47091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6949440" y="5897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Legados del Municipio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(ServiceNow / Workday / Banner)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modernas, seguras y de grado empresarial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5915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FastAPI · asyncio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Type-safety con Mypy y Ruff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526280" y="2240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35915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LLMs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2628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· OpenAI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 vector stores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8229600" y="2240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5915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2022 (ACID)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(caché + colas)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645152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22960" y="5440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AWS · Docker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Kubernetes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51960" y="4206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19"/>
          <p:cNvSpPr/>
          <p:nvPr/>
        </p:nvSpPr>
        <p:spPr>
          <a:xfrm>
            <a:off x="4526280" y="4526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645152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526280" y="5440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y clientes nativos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42062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8229600" y="4526280"/>
            <a:ext cx="777240" cy="77724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645152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229600" y="5440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(ruta) · OAuth2.0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y tránsito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INTERNACIONAL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TramitaIA</a:t>
            </a: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adapta para México los modelos que ya funcionan en el mundo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🇪🇪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ESTONIA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organizaciones conectadas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 del 2% del PIB anual en tiempo ciudadano. Exportado a Finlandia, Islandia, Ucrania y MOSIP.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965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389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🇮🇳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348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100B+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8932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procesadas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3383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UPI + DigiLocker ahorraron miles de millones en fraude y subsidios mal dirigidos.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965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92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🇸🇬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Singpass / MyInfo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381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9264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adultos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38160" y="3383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digital única para 2,000+ servicios públicos y privados.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858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🇧🇷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28016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152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150M+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28600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registrados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5669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Unificó cientos de servicios federales bajo un solo login y estándar de UX.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4251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3891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🇺🇦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98348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UCRANIA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Diia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43484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20M+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98932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activos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5669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por un equipo pequeño. Documentos oficiales y votación 100% móviles.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55280" y="42519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80924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🇦🇷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68680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Argentina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13816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15M+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69264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38160" y="5669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ciudadano nacional con integración a más de 40 organismos federales.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e-Estonia.com; Ministry of Electronics &amp; IT India; Smart Nation Singapore; Gov.br; Ministerio de Transformación Digital de Ucrania; argentina.gob.ar.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PLAN MÉXICO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TramitaIA</a:t>
            </a: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cubre tres sectores estratégicos simultáneamente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33832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783080" y="2423160"/>
            <a:ext cx="1143000" cy="1143000"/>
          </a:xfrm>
          <a:prstGeom prst="ellipse">
            <a:avLst/>
          </a:prstGeom>
          <a:solidFill>
            <a:srgbClr val="152A5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6746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datos avanzados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generativa, RAG sobre normatividad, analítica de demanda ciudadana, modelos predictivos de recaudación y detección de anomalías.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2057400"/>
            <a:ext cx="3611880" cy="33832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5486400" y="2423160"/>
            <a:ext cx="1143000" cy="1143000"/>
          </a:xfrm>
          <a:prstGeom prst="ellipse">
            <a:avLst/>
          </a:prstGeom>
          <a:solidFill>
            <a:srgbClr val="152A5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26746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Telecomunicaciones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conectividad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Omnicanalidad sobre WhatsApp y redes de voz. APIs abiertas para integración con operadores y telcos nacionales y con la ATDT.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2057400"/>
            <a:ext cx="3611880" cy="33832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9189720" y="2423160"/>
            <a:ext cx="1143000" cy="1143000"/>
          </a:xfrm>
          <a:prstGeom prst="ellipse">
            <a:avLst/>
          </a:prstGeom>
          <a:solidFill>
            <a:srgbClr val="152A5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0" y="26746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seguridad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183880" y="4617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digital verificable, credenciales criptográficas, cumplimiento LFPDPPP, ruta a ISO 27001 y controles de ciberseguridad.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es congruente con las atribuciones de coordinación interinstitucional de SECIHTI, SE y ATDT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/>
          <p:nvPr/>
        </p:nvSpPr>
        <p:spPr>
          <a:xfrm>
            <a:off x="548640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NAFIN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404872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8"/>
          <p:cNvSpPr/>
          <p:nvPr/>
        </p:nvSpPr>
        <p:spPr>
          <a:xfrm>
            <a:off x="2404872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Bancomext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61104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0"/>
          <p:cNvSpPr/>
          <p:nvPr/>
        </p:nvSpPr>
        <p:spPr>
          <a:xfrm>
            <a:off x="4261104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de Fondos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17336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6117336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SECIHTI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973568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4"/>
          <p:cNvSpPr/>
          <p:nvPr/>
        </p:nvSpPr>
        <p:spPr>
          <a:xfrm>
            <a:off x="7973568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829800" y="6217920"/>
            <a:ext cx="1764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6"/>
          <p:cNvSpPr/>
          <p:nvPr/>
        </p:nvSpPr>
        <p:spPr>
          <a:xfrm>
            <a:off x="9829800" y="62179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OBJETIVO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Segmentación B2G con tres olas de adopción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1 · 2026-2027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medianos (60k-250k hab)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municipios metropolitanos con presupuesto TI, demanda ciudadana y presión política por digitalizar.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68680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97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2 · 2027-2029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Gobiernos estatales y capitales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2245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inter-municipal vía API Gateway. Venta directa a tesorerías, catastros y oficinas de atención.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+ 150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68680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y ciudades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97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3 · 2029-2031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y expansión LatAm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7332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Colombia, Perú, Centroamérica. Alianza con BID y CAF para financiamiento multilateral.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686800" y="5824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B2G con ingresos recurrentes y alta defensibilidad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implementación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por municipio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26243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– $1.2M MXN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anual SaaS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# habitantes y módulos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0" y="34930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 – $3M MXN / año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transacción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emisión de documentos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4361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– 3% por operación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profesionales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76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Integración, capacitación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0" y="5230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$1.8k MXN / hora consultor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ingresos</a:t>
            </a:r>
            <a:endParaRPr lang="en-US" sz="16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400800" y="23774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5989320"/>
            <a:ext cx="2697480" cy="777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685800" y="6035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&lt;12 meses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5800" y="6446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383280" y="5989320"/>
            <a:ext cx="2697480" cy="777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8"/>
          <p:cNvSpPr/>
          <p:nvPr/>
        </p:nvSpPr>
        <p:spPr>
          <a:xfrm>
            <a:off x="3520440" y="6035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70-78%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3520440" y="6446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17920" y="5989320"/>
            <a:ext cx="2697480" cy="777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6355080" y="6035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115%+ proy.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355080" y="6446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 neta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052560" y="5989320"/>
            <a:ext cx="2697480" cy="777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/>
          <p:nvPr/>
        </p:nvSpPr>
        <p:spPr>
          <a:xfrm>
            <a:off x="9189720" y="6035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~$142 MDP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189720" y="6446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Año 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PRODUCTO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MVP a ecosistema interoperable en 12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1-3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Ciudadano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actual: ~80% completo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base (FastAPI, Redis, SQL Server) en Azure. Chatbot web y Telegram sobre top-10 trámites. Motor RAG básico con reglamentos y bandos.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26974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520440" y="2039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2044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4-6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Transaccionalidad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Identidad (Singpass-style)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66160" y="40233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56616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6 meses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45262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Ciudadano Único, login sin contraseña (biometría/OTP). Pasarela de pagos integrada. Azure Integration Services a sistemas legados (ServiceNow, Workday).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217920" y="1965960"/>
            <a:ext cx="26974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355080" y="2039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5508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7-9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End-to-End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(Diia-style)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0080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con 3 municipios piloto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45262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automatizada de licencias, actas y constancias en PDF y credenciales verificables. Bandeja de funcionarios. Colas Redis para picos (enero predial).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52560" y="19659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9052560" y="1965960"/>
            <a:ext cx="26974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9189720" y="2039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18972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10-12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(X-Road-style)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35440" y="40233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923544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estatal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35440" y="45262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interoperabilidad inter-municipal. PWA / app nativa. Auditoría ISO 27001 y cumplimiento LFPDPPP completo.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FUNDADOR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 combinada en tecnología empresarial, sector público y producto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32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1280160" cy="128016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517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" y="2340864"/>
            <a:ext cx="1353312" cy="1353312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23774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Alberto Chávez Rojas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7744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 · Fundador operativo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S.A.S. · Compromiso de tiempo completo al cierre de la inversión. IT Manager con experiencia en ciberseguridad, desarrollo, analítica, gobernanza de datos, infraestructura y cloud.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68680" y="5303520"/>
            <a:ext cx="1408176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868680" y="53035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68296" y="5303520"/>
            <a:ext cx="1330452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2368296" y="5303520"/>
            <a:ext cx="1330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(Azure)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90188" y="5303520"/>
            <a:ext cx="109728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3790188" y="5303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68680" y="5737860"/>
            <a:ext cx="1641348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832104" y="5749290"/>
            <a:ext cx="164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Integration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63640" y="2011680"/>
            <a:ext cx="5532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4"/>
          <p:cNvSpPr/>
          <p:nvPr/>
        </p:nvSpPr>
        <p:spPr>
          <a:xfrm>
            <a:off x="6583680" y="2377440"/>
            <a:ext cx="1280160" cy="128016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51760"/>
            <a:ext cx="731520" cy="7315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547104" y="2340864"/>
            <a:ext cx="1353312" cy="1353312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80924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Wolburg Chávez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809244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 Originador · Asesor Estratégico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83680" y="3840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Originador de la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TramitaIA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autor del aplicativo (37k LoC en producción). Aporta el software a la S.A.S. Asiento en el Consejo de Administración.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583680" y="4983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583680" y="5303520"/>
            <a:ext cx="1719072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1"/>
          <p:cNvSpPr/>
          <p:nvPr/>
        </p:nvSpPr>
        <p:spPr>
          <a:xfrm>
            <a:off x="6583680" y="5303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producto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394192" y="5303520"/>
            <a:ext cx="1252728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/>
          <p:nvPr/>
        </p:nvSpPr>
        <p:spPr>
          <a:xfrm>
            <a:off x="8394192" y="530352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9738360" y="5303520"/>
            <a:ext cx="109728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5"/>
          <p:cNvSpPr/>
          <p:nvPr/>
        </p:nvSpPr>
        <p:spPr>
          <a:xfrm>
            <a:off x="9738360" y="5303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583680" y="5715000"/>
            <a:ext cx="1641348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7"/>
          <p:cNvSpPr/>
          <p:nvPr/>
        </p:nvSpPr>
        <p:spPr>
          <a:xfrm>
            <a:off x="6583680" y="5715000"/>
            <a:ext cx="164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institucional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8316468" y="5715000"/>
            <a:ext cx="1563624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9"/>
          <p:cNvSpPr/>
          <p:nvPr/>
        </p:nvSpPr>
        <p:spPr>
          <a:xfrm>
            <a:off x="8316468" y="571500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Asesoría técnica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INVERSIÓN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 MDP al Fondo de Fondos como ticket catalizador de una ronda de $20 MDP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4480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 MDP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Emprendedor · ticket catalizador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total objetivo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 MDP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Fondo de Fondos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80% (catalizador)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privado a captar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MDP complementarios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897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/ horizonte salida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5897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años / 7-10 años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FONDOS (sobre $20 MDP)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331720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852160" y="2331720"/>
            <a:ext cx="210312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y desarrollo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642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FTE: backend, full-stack, ML, DevOps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990088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852160" y="2990088"/>
            <a:ext cx="946404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943600" y="29900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3035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e infraestructura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3009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LLMs, despliegue 10 municipios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648456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852160" y="3648456"/>
            <a:ext cx="78867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943600" y="36484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desarrollo B2G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3959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Vendedores, marketing, alianzas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4306824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5852160" y="4306824"/>
            <a:ext cx="52578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943600" y="43068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4352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y cumplimiento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617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pentest, LFPDPPP, SOC-2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4965192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852160" y="4965192"/>
            <a:ext cx="473202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5943600" y="49651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5010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PI, legal y gobierno corporativo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5276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Aportación en especie, INDAUTOR, IMPI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52160" y="5623560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5852160" y="5623560"/>
            <a:ext cx="420624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943600" y="5623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75120" y="5669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y contingencias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59344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ciclo presupuestal gubernamental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PROYECCIONES FINANCIERAS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Trayectoria a $142 MDP de ARR y EBITDA positivo en año 3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Municipios/clientes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(MDP)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bruto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(MDP)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(FTE)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32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principales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417320" y="5760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promedio por municipio: $1.2M MXN/año · CAC $280k MXN · Churn anual &lt; 5% (contratos 3 años) · 37k LoC ya en producción reducen necesidad de capital · Plan a 10 municipios en 24 meses · Serie A o extensión proyectada para mes 18-24.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SALIDA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rutas de salida con horizonte de 7-10 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estratégica nacional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92040" y="2240280"/>
            <a:ext cx="1051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892040" y="2240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Softtek, KIO Networks, Telmex, NEORIS. Buscan GovTech recurrente para complementar sus portafolios de servicios al sector público.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3609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estratégica internacional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07040" y="2240280"/>
            <a:ext cx="1051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607040" y="2240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por GovTech globales (Tyler Technologies, Granicus) o consultoras (Accenture, Capgemini) interesadas en la vertical LatAm.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6459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estructurada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4389120"/>
            <a:ext cx="1051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892040" y="4389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Fundadores o socio corporativo estratégico recompran participación con utilidades retenidas y deuda estructurada.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46520" y="4297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3609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Pública Inicial (IPO)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07040" y="4389120"/>
            <a:ext cx="1051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607040" y="4389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5029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 o BMV, o dual-listing con NASDAQ si se alcanza ARR &gt; USD 100M. Dependiente de ventana de mercado y múltiplos sectoriales.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objetivo de salida: AÑO 7 – AÑO 10  ·  Múltiplos esperados: 6x-10x ARR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</a:t>
            </a:r>
            <a:r>
              <a:rPr lang="en-US" sz="1000" b="1" kern="0" spc="400" dirty="0" err="1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TramitaIA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ventajas defendibles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37k LoC ya en producción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5603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real (Python/FastAPI, SQL Server, Redis, Azure AI Foundry) corriendo 24/7 con uptime &gt; 95%. No son slides: es código operando.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IA-first desde el día uno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45920" y="40690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 RAG sobre normatividad real de un municipio, no chatbots con árboles de decisión. Genera escritura, no clasificación.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40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5166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intelectual ya invertido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5577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valuado en $4-6 MDP aportado a la S.A.S. como capital en especie. Reduce necesidad de inversión nueva.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19659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6537960" y="233172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23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21488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con legados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25603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nativos a ServiceNow, Workday, Banner y SQL Server — el stack que el equipo ya domina.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63640" y="347472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19"/>
          <p:cNvSpPr/>
          <p:nvPr/>
        </p:nvSpPr>
        <p:spPr>
          <a:xfrm>
            <a:off x="6537960" y="384048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9319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bottom-up justificada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60920" y="40690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MDP al Fondo de Fondos basado en costos reales 24m. Ronda total $20 MDP, no el tope de la convocatoria por convención.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49834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6537960" y="5349240"/>
            <a:ext cx="640080" cy="64008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4406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5166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de entrada crecientes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60920" y="5577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ciudadana (con consentimiento), compliance local y contratos plurianuales = foso competitivo.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Transformar la relación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126 millones de mexicanos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su gobierno.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TramitaIA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Impulsora de Innovación México cataliza la próxima generación de infraestructura digital pública — con talento mexicano, construida para escalar.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10972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Alberto Chávez Rojas · Rodrigo Wolburg Chávez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Innovadoras y Servicios Tecnológicos a la Medida, S.A.S.   ·   RFC: SIS170728M16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188720"/>
            <a:ext cx="3931920" cy="5303520"/>
          </a:xfrm>
          <a:prstGeom prst="rect">
            <a:avLst/>
          </a:prstGeom>
          <a:solidFill>
            <a:srgbClr val="152A5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Fondo de Fondos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2651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7724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24 meses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82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producción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7-10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77240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6016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salida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CIUDADANOS 2026  ·  NAFIN · BANCOMEXT · FONDO DE FONDOS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2245</Words>
  <Application>Microsoft Office PowerPoint</Application>
  <PresentationFormat>Widescreen</PresentationFormat>
  <Paragraphs>411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GovStack — Proyectos Ciudadanos 2026</dc:title>
  <dc:subject>PptxGenJS Presentation</dc:subject>
  <dc:creator>Soluciones Innovadoras y Servicios Tecnológicos a la Medida, S.A.S.</dc:creator>
  <cp:lastModifiedBy>Rodrigo Wolburg Chávez</cp:lastModifiedBy>
  <cp:revision>2</cp:revision>
  <dcterms:created xsi:type="dcterms:W3CDTF">2026-04-27T20:50:08Z</dcterms:created>
  <dcterms:modified xsi:type="dcterms:W3CDTF">2026-04-28T06:07:40Z</dcterms:modified>
</cp:coreProperties>
</file>